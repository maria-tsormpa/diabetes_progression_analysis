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62" r:id="rId2"/>
    <p:sldId id="257" r:id="rId3"/>
    <p:sldId id="263" r:id="rId4"/>
    <p:sldId id="265" r:id="rId5"/>
    <p:sldId id="264" r:id="rId6"/>
    <p:sldId id="266" r:id="rId7"/>
  </p:sldIdLst>
  <p:sldSz cx="9144000" cy="6858000" type="screen4x3"/>
  <p:notesSz cx="6858000" cy="9144000"/>
  <p:defaultTextStyle>
    <a:defPPr>
      <a:defRPr lang="el-G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5050"/>
    <a:srgbClr val="FCD7D4"/>
    <a:srgbClr val="FFCC66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Μεσαίο στυλ 2 - Έμφαση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Μεσαίο στυλ 2 - Έμφαση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BDBED569-4797-4DF1-A0F4-6AAB3CD982D8}" styleName="Φωτεινό στυλ 3 - Έμφαση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5FD0F851-EC5A-4D38-B0AD-8093EC10F338}" styleName="Φωτεινό στυλ 1 - Έμφαση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51" autoAdjust="0"/>
    <p:restoredTop sz="94688" autoAdjust="0"/>
  </p:normalViewPr>
  <p:slideViewPr>
    <p:cSldViewPr>
      <p:cViewPr varScale="1">
        <p:scale>
          <a:sx n="62" d="100"/>
          <a:sy n="62" d="100"/>
        </p:scale>
        <p:origin x="-101" y="-5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- Θέση κεφαλίδας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l-GR"/>
          </a:p>
        </p:txBody>
      </p:sp>
      <p:sp>
        <p:nvSpPr>
          <p:cNvPr id="3" name="2 - Θέση ημερομηνίας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A9E08B-79FF-42F1-AEBD-9C8B92B58914}" type="datetimeFigureOut">
              <a:rPr lang="el-GR" smtClean="0"/>
              <a:pPr/>
              <a:t>16/10/2026</a:t>
            </a:fld>
            <a:endParaRPr lang="el-GR"/>
          </a:p>
        </p:txBody>
      </p:sp>
      <p:sp>
        <p:nvSpPr>
          <p:cNvPr id="4" name="3 - Θέση εικόνας διαφάνειας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l-GR"/>
          </a:p>
        </p:txBody>
      </p:sp>
      <p:sp>
        <p:nvSpPr>
          <p:cNvPr id="5" name="4 - Θέση σημειώσεων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l-GR" smtClean="0"/>
              <a:t>Kλικ για επεξεργασία των στυλ του υποδείγματος</a:t>
            </a:r>
          </a:p>
          <a:p>
            <a:pPr lvl="1"/>
            <a:r>
              <a:rPr lang="el-GR" smtClean="0"/>
              <a:t>Δεύτερου επιπέδου</a:t>
            </a:r>
          </a:p>
          <a:p>
            <a:pPr lvl="2"/>
            <a:r>
              <a:rPr lang="el-GR" smtClean="0"/>
              <a:t>Τρίτου επιπέδου</a:t>
            </a:r>
          </a:p>
          <a:p>
            <a:pPr lvl="3"/>
            <a:r>
              <a:rPr lang="el-GR" smtClean="0"/>
              <a:t>Τέταρτου επιπέδου</a:t>
            </a:r>
          </a:p>
          <a:p>
            <a:pPr lvl="4"/>
            <a:r>
              <a:rPr lang="el-GR" smtClean="0"/>
              <a:t>Πέμπτου επιπέδου</a:t>
            </a:r>
            <a:endParaRPr lang="el-GR"/>
          </a:p>
        </p:txBody>
      </p:sp>
      <p:sp>
        <p:nvSpPr>
          <p:cNvPr id="6" name="5 - Θέση υποσέλιδου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l-GR"/>
          </a:p>
        </p:txBody>
      </p:sp>
      <p:sp>
        <p:nvSpPr>
          <p:cNvPr id="7" name="6 - Θέση αριθμού διαφάνειας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B58FD79-EE33-4140-A9F8-72B36FC9543C}" type="slidenum">
              <a:rPr lang="el-GR" smtClean="0"/>
              <a:pPr/>
              <a:t>‹#›</a:t>
            </a:fld>
            <a:endParaRPr lang="el-G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Διαφάνεια τίτλου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- Τίτλος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l-GR" smtClean="0"/>
              <a:t>Κάντε κλικ για επεξεργασία του τίτλου</a:t>
            </a:r>
            <a:endParaRPr lang="el-GR"/>
          </a:p>
        </p:txBody>
      </p:sp>
      <p:sp>
        <p:nvSpPr>
          <p:cNvPr id="3" name="2 - Υπότιτλος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l-GR" smtClean="0"/>
              <a:t>Κάντε κλικ για να επεξεργαστείτε τον υπότιτλο του υποδείγματος</a:t>
            </a:r>
            <a:endParaRPr lang="el-GR"/>
          </a:p>
        </p:txBody>
      </p:sp>
      <p:sp>
        <p:nvSpPr>
          <p:cNvPr id="4" name="3 - Θέση ημερομηνίας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42CEA3-3058-4D43-AE35-B3DA76CB4003}" type="datetimeFigureOut">
              <a:rPr lang="el-GR" smtClean="0"/>
              <a:pPr/>
              <a:t>16/10/2026</a:t>
            </a:fld>
            <a:endParaRPr lang="el-GR"/>
          </a:p>
        </p:txBody>
      </p:sp>
      <p:sp>
        <p:nvSpPr>
          <p:cNvPr id="5" name="4 - Θέση υποσέλιδου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6" name="5 - Θέση αριθμού διαφάνειας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F1D1C4-C2D9-4231-9FB2-B2D9D97AA41D}" type="slidenum">
              <a:rPr lang="el-GR" smtClean="0"/>
              <a:pPr/>
              <a:t>‹#›</a:t>
            </a:fld>
            <a:endParaRPr lang="el-G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Τίτλος και Αντικείμεν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- Τίτλος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 smtClean="0"/>
              <a:t>Κάντε κλικ για επεξεργασία του τίτλου</a:t>
            </a:r>
            <a:endParaRPr lang="el-GR"/>
          </a:p>
        </p:txBody>
      </p:sp>
      <p:sp>
        <p:nvSpPr>
          <p:cNvPr id="3" name="2 - Θέση περιεχομένου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l-GR" smtClean="0"/>
              <a:t>Κάντε κλικ για να επεξεργαστείτε τα στυλ κειμένου του υποδείγματος</a:t>
            </a:r>
          </a:p>
          <a:p>
            <a:pPr lvl="1"/>
            <a:r>
              <a:rPr lang="el-GR" smtClean="0"/>
              <a:t>Δεύτερου επιπέδου</a:t>
            </a:r>
          </a:p>
          <a:p>
            <a:pPr lvl="2"/>
            <a:r>
              <a:rPr lang="el-GR" smtClean="0"/>
              <a:t>Τρίτου επιπέδου</a:t>
            </a:r>
          </a:p>
          <a:p>
            <a:pPr lvl="3"/>
            <a:r>
              <a:rPr lang="el-GR" smtClean="0"/>
              <a:t>Τέταρτου επιπέδου</a:t>
            </a:r>
          </a:p>
          <a:p>
            <a:pPr lvl="4"/>
            <a:r>
              <a:rPr lang="el-GR" smtClean="0"/>
              <a:t>Πέμπτου επιπέδου</a:t>
            </a:r>
            <a:endParaRPr lang="el-GR"/>
          </a:p>
        </p:txBody>
      </p:sp>
      <p:sp>
        <p:nvSpPr>
          <p:cNvPr id="4" name="3 - Θέση ημερομηνίας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42CEA3-3058-4D43-AE35-B3DA76CB4003}" type="datetimeFigureOut">
              <a:rPr lang="el-GR" smtClean="0"/>
              <a:pPr/>
              <a:t>16/10/2026</a:t>
            </a:fld>
            <a:endParaRPr lang="el-GR"/>
          </a:p>
        </p:txBody>
      </p:sp>
      <p:sp>
        <p:nvSpPr>
          <p:cNvPr id="5" name="4 - Θέση υποσέλιδου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6" name="5 - Θέση αριθμού διαφάνειας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F1D1C4-C2D9-4231-9FB2-B2D9D97AA41D}" type="slidenum">
              <a:rPr lang="el-GR" smtClean="0"/>
              <a:pPr/>
              <a:t>‹#›</a:t>
            </a:fld>
            <a:endParaRPr lang="el-G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Κεφαλίδα ενότητα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- Τίτλος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l-GR" smtClean="0"/>
              <a:t>Κάντε κλικ για επεξεργασία του τίτλου</a:t>
            </a:r>
            <a:endParaRPr lang="el-GR"/>
          </a:p>
        </p:txBody>
      </p:sp>
      <p:sp>
        <p:nvSpPr>
          <p:cNvPr id="3" name="2 - Θέση κειμένου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l-GR" smtClean="0"/>
              <a:t>Κάντε κλικ για να επεξεργαστείτε τα στυλ κειμένου του υποδείγματος</a:t>
            </a:r>
          </a:p>
        </p:txBody>
      </p:sp>
      <p:sp>
        <p:nvSpPr>
          <p:cNvPr id="4" name="3 - Θέση ημερομηνίας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42CEA3-3058-4D43-AE35-B3DA76CB4003}" type="datetimeFigureOut">
              <a:rPr lang="el-GR" smtClean="0"/>
              <a:pPr/>
              <a:t>16/10/2026</a:t>
            </a:fld>
            <a:endParaRPr lang="el-GR"/>
          </a:p>
        </p:txBody>
      </p:sp>
      <p:sp>
        <p:nvSpPr>
          <p:cNvPr id="5" name="4 - Θέση υποσέλιδου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6" name="5 - Θέση αριθμού διαφάνειας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F1D1C4-C2D9-4231-9FB2-B2D9D97AA41D}" type="slidenum">
              <a:rPr lang="el-GR" smtClean="0"/>
              <a:pPr/>
              <a:t>‹#›</a:t>
            </a:fld>
            <a:endParaRPr lang="el-G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Δύο περιεχόμεν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- Τίτλος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 smtClean="0"/>
              <a:t>Κάντε κλικ για επεξεργασία του τίτλου</a:t>
            </a:r>
            <a:endParaRPr lang="el-GR"/>
          </a:p>
        </p:txBody>
      </p:sp>
      <p:sp>
        <p:nvSpPr>
          <p:cNvPr id="3" name="2 - Θέση περιεχομένου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l-GR" smtClean="0"/>
              <a:t>Κάντε κλικ για να επεξεργαστείτε τα στυλ κειμένου του υποδείγματος</a:t>
            </a:r>
          </a:p>
          <a:p>
            <a:pPr lvl="1"/>
            <a:r>
              <a:rPr lang="el-GR" smtClean="0"/>
              <a:t>Δεύτερου επιπέδου</a:t>
            </a:r>
          </a:p>
          <a:p>
            <a:pPr lvl="2"/>
            <a:r>
              <a:rPr lang="el-GR" smtClean="0"/>
              <a:t>Τρίτου επιπέδου</a:t>
            </a:r>
          </a:p>
          <a:p>
            <a:pPr lvl="3"/>
            <a:r>
              <a:rPr lang="el-GR" smtClean="0"/>
              <a:t>Τέταρτου επιπέδου</a:t>
            </a:r>
          </a:p>
          <a:p>
            <a:pPr lvl="4"/>
            <a:r>
              <a:rPr lang="el-GR" smtClean="0"/>
              <a:t>Πέμπτου επιπέδου</a:t>
            </a:r>
            <a:endParaRPr lang="el-GR"/>
          </a:p>
        </p:txBody>
      </p:sp>
      <p:sp>
        <p:nvSpPr>
          <p:cNvPr id="4" name="3 - Θέση περιεχομένου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l-GR" smtClean="0"/>
              <a:t>Κάντε κλικ για να επεξεργαστείτε τα στυλ κειμένου του υποδείγματος</a:t>
            </a:r>
          </a:p>
          <a:p>
            <a:pPr lvl="1"/>
            <a:r>
              <a:rPr lang="el-GR" smtClean="0"/>
              <a:t>Δεύτερου επιπέδου</a:t>
            </a:r>
          </a:p>
          <a:p>
            <a:pPr lvl="2"/>
            <a:r>
              <a:rPr lang="el-GR" smtClean="0"/>
              <a:t>Τρίτου επιπέδου</a:t>
            </a:r>
          </a:p>
          <a:p>
            <a:pPr lvl="3"/>
            <a:r>
              <a:rPr lang="el-GR" smtClean="0"/>
              <a:t>Τέταρτου επιπέδου</a:t>
            </a:r>
          </a:p>
          <a:p>
            <a:pPr lvl="4"/>
            <a:r>
              <a:rPr lang="el-GR" smtClean="0"/>
              <a:t>Πέμπτου επιπέδου</a:t>
            </a:r>
            <a:endParaRPr lang="el-GR"/>
          </a:p>
        </p:txBody>
      </p:sp>
      <p:sp>
        <p:nvSpPr>
          <p:cNvPr id="5" name="4 - Θέση ημερομηνίας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42CEA3-3058-4D43-AE35-B3DA76CB4003}" type="datetimeFigureOut">
              <a:rPr lang="el-GR" smtClean="0"/>
              <a:pPr/>
              <a:t>16/10/2026</a:t>
            </a:fld>
            <a:endParaRPr lang="el-GR"/>
          </a:p>
        </p:txBody>
      </p:sp>
      <p:sp>
        <p:nvSpPr>
          <p:cNvPr id="6" name="5 - Θέση υποσέλιδου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7" name="6 - Θέση αριθμού διαφάνειας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F1D1C4-C2D9-4231-9FB2-B2D9D97AA41D}" type="slidenum">
              <a:rPr lang="el-GR" smtClean="0"/>
              <a:pPr/>
              <a:t>‹#›</a:t>
            </a:fld>
            <a:endParaRPr lang="el-G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Σύγκρισ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- Τίτλος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l-GR" smtClean="0"/>
              <a:t>Κάντε κλικ για επεξεργασία του τίτλου</a:t>
            </a:r>
            <a:endParaRPr lang="el-GR"/>
          </a:p>
        </p:txBody>
      </p:sp>
      <p:sp>
        <p:nvSpPr>
          <p:cNvPr id="3" name="2 - Θέση κειμένου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l-GR" smtClean="0"/>
              <a:t>Κάντε κλικ για να επεξεργαστείτε τα στυλ κειμένου του υποδείγματος</a:t>
            </a:r>
          </a:p>
        </p:txBody>
      </p:sp>
      <p:sp>
        <p:nvSpPr>
          <p:cNvPr id="4" name="3 - Θέση περιεχομένου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l-GR" smtClean="0"/>
              <a:t>Κάντε κλικ για να επεξεργαστείτε τα στυλ κειμένου του υποδείγματος</a:t>
            </a:r>
          </a:p>
          <a:p>
            <a:pPr lvl="1"/>
            <a:r>
              <a:rPr lang="el-GR" smtClean="0"/>
              <a:t>Δεύτερου επιπέδου</a:t>
            </a:r>
          </a:p>
          <a:p>
            <a:pPr lvl="2"/>
            <a:r>
              <a:rPr lang="el-GR" smtClean="0"/>
              <a:t>Τρίτου επιπέδου</a:t>
            </a:r>
          </a:p>
          <a:p>
            <a:pPr lvl="3"/>
            <a:r>
              <a:rPr lang="el-GR" smtClean="0"/>
              <a:t>Τέταρτου επιπέδου</a:t>
            </a:r>
          </a:p>
          <a:p>
            <a:pPr lvl="4"/>
            <a:r>
              <a:rPr lang="el-GR" smtClean="0"/>
              <a:t>Πέμπτου επιπέδου</a:t>
            </a:r>
            <a:endParaRPr lang="el-GR"/>
          </a:p>
        </p:txBody>
      </p:sp>
      <p:sp>
        <p:nvSpPr>
          <p:cNvPr id="5" name="4 - Θέση κειμένου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l-GR" smtClean="0"/>
              <a:t>Κάντε κλικ για να επεξεργαστείτε τα στυλ κειμένου του υποδείγματος</a:t>
            </a:r>
          </a:p>
        </p:txBody>
      </p:sp>
      <p:sp>
        <p:nvSpPr>
          <p:cNvPr id="6" name="5 - Θέση περιεχομένου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l-GR" smtClean="0"/>
              <a:t>Κάντε κλικ για να επεξεργαστείτε τα στυλ κειμένου του υποδείγματος</a:t>
            </a:r>
          </a:p>
          <a:p>
            <a:pPr lvl="1"/>
            <a:r>
              <a:rPr lang="el-GR" smtClean="0"/>
              <a:t>Δεύτερου επιπέδου</a:t>
            </a:r>
          </a:p>
          <a:p>
            <a:pPr lvl="2"/>
            <a:r>
              <a:rPr lang="el-GR" smtClean="0"/>
              <a:t>Τρίτου επιπέδου</a:t>
            </a:r>
          </a:p>
          <a:p>
            <a:pPr lvl="3"/>
            <a:r>
              <a:rPr lang="el-GR" smtClean="0"/>
              <a:t>Τέταρτου επιπέδου</a:t>
            </a:r>
          </a:p>
          <a:p>
            <a:pPr lvl="4"/>
            <a:r>
              <a:rPr lang="el-GR" smtClean="0"/>
              <a:t>Πέμπτου επιπέδου</a:t>
            </a:r>
            <a:endParaRPr lang="el-GR"/>
          </a:p>
        </p:txBody>
      </p:sp>
      <p:sp>
        <p:nvSpPr>
          <p:cNvPr id="7" name="6 - Θέση ημερομηνίας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42CEA3-3058-4D43-AE35-B3DA76CB4003}" type="datetimeFigureOut">
              <a:rPr lang="el-GR" smtClean="0"/>
              <a:pPr/>
              <a:t>16/10/2026</a:t>
            </a:fld>
            <a:endParaRPr lang="el-GR"/>
          </a:p>
        </p:txBody>
      </p:sp>
      <p:sp>
        <p:nvSpPr>
          <p:cNvPr id="8" name="7 - Θέση υποσέλιδου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9" name="8 - Θέση αριθμού διαφάνειας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F1D1C4-C2D9-4231-9FB2-B2D9D97AA41D}" type="slidenum">
              <a:rPr lang="el-GR" smtClean="0"/>
              <a:pPr/>
              <a:t>‹#›</a:t>
            </a:fld>
            <a:endParaRPr lang="el-G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Μόνο τίτλο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- Τίτλος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 smtClean="0"/>
              <a:t>Κάντε κλικ για επεξεργασία του τίτλου</a:t>
            </a:r>
            <a:endParaRPr lang="el-GR"/>
          </a:p>
        </p:txBody>
      </p:sp>
      <p:sp>
        <p:nvSpPr>
          <p:cNvPr id="3" name="2 - Θέση ημερομηνίας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42CEA3-3058-4D43-AE35-B3DA76CB4003}" type="datetimeFigureOut">
              <a:rPr lang="el-GR" smtClean="0"/>
              <a:pPr/>
              <a:t>16/10/2026</a:t>
            </a:fld>
            <a:endParaRPr lang="el-GR"/>
          </a:p>
        </p:txBody>
      </p:sp>
      <p:sp>
        <p:nvSpPr>
          <p:cNvPr id="4" name="3 - Θέση υποσέλιδου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5" name="4 - Θέση αριθμού διαφάνειας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F1D1C4-C2D9-4231-9FB2-B2D9D97AA41D}" type="slidenum">
              <a:rPr lang="el-GR" smtClean="0"/>
              <a:pPr/>
              <a:t>‹#›</a:t>
            </a:fld>
            <a:endParaRPr lang="el-G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Κενή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- Θέση ημερομηνίας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42CEA3-3058-4D43-AE35-B3DA76CB4003}" type="datetimeFigureOut">
              <a:rPr lang="el-GR" smtClean="0"/>
              <a:pPr/>
              <a:t>16/10/2026</a:t>
            </a:fld>
            <a:endParaRPr lang="el-GR"/>
          </a:p>
        </p:txBody>
      </p:sp>
      <p:sp>
        <p:nvSpPr>
          <p:cNvPr id="3" name="2 - Θέση υποσέλιδου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4" name="3 - Θέση αριθμού διαφάνειας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F1D1C4-C2D9-4231-9FB2-B2D9D97AA41D}" type="slidenum">
              <a:rPr lang="el-GR" smtClean="0"/>
              <a:pPr/>
              <a:t>‹#›</a:t>
            </a:fld>
            <a:endParaRPr lang="el-G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Περιεχόμενο με λεζάντ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- Τίτλος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l-GR" smtClean="0"/>
              <a:t>Κάντε κλικ για επεξεργασία του τίτλου</a:t>
            </a:r>
            <a:endParaRPr lang="el-GR"/>
          </a:p>
        </p:txBody>
      </p:sp>
      <p:sp>
        <p:nvSpPr>
          <p:cNvPr id="3" name="2 - Θέση περιεχομένου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l-GR" smtClean="0"/>
              <a:t>Κάντε κλικ για να επεξεργαστείτε τα στυλ κειμένου του υποδείγματος</a:t>
            </a:r>
          </a:p>
          <a:p>
            <a:pPr lvl="1"/>
            <a:r>
              <a:rPr lang="el-GR" smtClean="0"/>
              <a:t>Δεύτερου επιπέδου</a:t>
            </a:r>
          </a:p>
          <a:p>
            <a:pPr lvl="2"/>
            <a:r>
              <a:rPr lang="el-GR" smtClean="0"/>
              <a:t>Τρίτου επιπέδου</a:t>
            </a:r>
          </a:p>
          <a:p>
            <a:pPr lvl="3"/>
            <a:r>
              <a:rPr lang="el-GR" smtClean="0"/>
              <a:t>Τέταρτου επιπέδου</a:t>
            </a:r>
          </a:p>
          <a:p>
            <a:pPr lvl="4"/>
            <a:r>
              <a:rPr lang="el-GR" smtClean="0"/>
              <a:t>Πέμπτου επιπέδου</a:t>
            </a:r>
            <a:endParaRPr lang="el-GR"/>
          </a:p>
        </p:txBody>
      </p:sp>
      <p:sp>
        <p:nvSpPr>
          <p:cNvPr id="4" name="3 - Θέση κειμένου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l-GR" smtClean="0"/>
              <a:t>Κάντε κλικ για να επεξεργαστείτε τα στυλ κειμένου του υποδείγματος</a:t>
            </a:r>
          </a:p>
        </p:txBody>
      </p:sp>
      <p:sp>
        <p:nvSpPr>
          <p:cNvPr id="5" name="4 - Θέση ημερομηνίας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42CEA3-3058-4D43-AE35-B3DA76CB4003}" type="datetimeFigureOut">
              <a:rPr lang="el-GR" smtClean="0"/>
              <a:pPr/>
              <a:t>16/10/2026</a:t>
            </a:fld>
            <a:endParaRPr lang="el-GR"/>
          </a:p>
        </p:txBody>
      </p:sp>
      <p:sp>
        <p:nvSpPr>
          <p:cNvPr id="6" name="5 - Θέση υποσέλιδου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7" name="6 - Θέση αριθμού διαφάνειας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F1D1C4-C2D9-4231-9FB2-B2D9D97AA41D}" type="slidenum">
              <a:rPr lang="el-GR" smtClean="0"/>
              <a:pPr/>
              <a:t>‹#›</a:t>
            </a:fld>
            <a:endParaRPr lang="el-G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Εικόνα με λεζάντ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- Τίτλος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l-GR" smtClean="0"/>
              <a:t>Κάντε κλικ για επεξεργασία του τίτλου</a:t>
            </a:r>
            <a:endParaRPr lang="el-GR"/>
          </a:p>
        </p:txBody>
      </p:sp>
      <p:sp>
        <p:nvSpPr>
          <p:cNvPr id="3" name="2 - Θέση εικόνας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l-GR"/>
          </a:p>
        </p:txBody>
      </p:sp>
      <p:sp>
        <p:nvSpPr>
          <p:cNvPr id="4" name="3 - Θέση κειμένου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l-GR" smtClean="0"/>
              <a:t>Κάντε κλικ για να επεξεργαστείτε τα στυλ κειμένου του υποδείγματος</a:t>
            </a:r>
          </a:p>
        </p:txBody>
      </p:sp>
      <p:sp>
        <p:nvSpPr>
          <p:cNvPr id="5" name="4 - Θέση ημερομηνίας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42CEA3-3058-4D43-AE35-B3DA76CB4003}" type="datetimeFigureOut">
              <a:rPr lang="el-GR" smtClean="0"/>
              <a:pPr/>
              <a:t>16/10/2026</a:t>
            </a:fld>
            <a:endParaRPr lang="el-GR"/>
          </a:p>
        </p:txBody>
      </p:sp>
      <p:sp>
        <p:nvSpPr>
          <p:cNvPr id="6" name="5 - Θέση υποσέλιδου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7" name="6 - Θέση αριθμού διαφάνειας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F1D1C4-C2D9-4231-9FB2-B2D9D97AA41D}" type="slidenum">
              <a:rPr lang="el-GR" smtClean="0"/>
              <a:pPr/>
              <a:t>‹#›</a:t>
            </a:fld>
            <a:endParaRPr lang="el-G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Τίτλος και Κατακόρυφο κείμεν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- Τίτλος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 smtClean="0"/>
              <a:t>Κάντε κλικ για επεξεργασία του τίτλου</a:t>
            </a:r>
            <a:endParaRPr lang="el-GR"/>
          </a:p>
        </p:txBody>
      </p:sp>
      <p:sp>
        <p:nvSpPr>
          <p:cNvPr id="3" name="2 - Θέση κατακόρυφου κειμένου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l-GR" smtClean="0"/>
              <a:t>Κάντε κλικ για να επεξεργαστείτε τα στυλ κειμένου του υποδείγματος</a:t>
            </a:r>
          </a:p>
          <a:p>
            <a:pPr lvl="1"/>
            <a:r>
              <a:rPr lang="el-GR" smtClean="0"/>
              <a:t>Δεύτερου επιπέδου</a:t>
            </a:r>
          </a:p>
          <a:p>
            <a:pPr lvl="2"/>
            <a:r>
              <a:rPr lang="el-GR" smtClean="0"/>
              <a:t>Τρίτου επιπέδου</a:t>
            </a:r>
          </a:p>
          <a:p>
            <a:pPr lvl="3"/>
            <a:r>
              <a:rPr lang="el-GR" smtClean="0"/>
              <a:t>Τέταρτου επιπέδου</a:t>
            </a:r>
          </a:p>
          <a:p>
            <a:pPr lvl="4"/>
            <a:r>
              <a:rPr lang="el-GR" smtClean="0"/>
              <a:t>Πέμπτου επιπέδου</a:t>
            </a:r>
            <a:endParaRPr lang="el-GR"/>
          </a:p>
        </p:txBody>
      </p:sp>
      <p:sp>
        <p:nvSpPr>
          <p:cNvPr id="4" name="3 - Θέση ημερομηνίας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42CEA3-3058-4D43-AE35-B3DA76CB4003}" type="datetimeFigureOut">
              <a:rPr lang="el-GR" smtClean="0"/>
              <a:pPr/>
              <a:t>16/10/2026</a:t>
            </a:fld>
            <a:endParaRPr lang="el-GR"/>
          </a:p>
        </p:txBody>
      </p:sp>
      <p:sp>
        <p:nvSpPr>
          <p:cNvPr id="5" name="4 - Θέση υποσέλιδου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6" name="5 - Θέση αριθμού διαφάνειας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F1D1C4-C2D9-4231-9FB2-B2D9D97AA41D}" type="slidenum">
              <a:rPr lang="el-GR" smtClean="0"/>
              <a:pPr/>
              <a:t>‹#›</a:t>
            </a:fld>
            <a:endParaRPr lang="el-G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Κατακόρυφος τίτλος και Κείμεν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- Κατακόρυφος τίτλος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l-GR" smtClean="0"/>
              <a:t>Κάντε κλικ για επεξεργασία του τίτλου</a:t>
            </a:r>
            <a:endParaRPr lang="el-GR"/>
          </a:p>
        </p:txBody>
      </p:sp>
      <p:sp>
        <p:nvSpPr>
          <p:cNvPr id="3" name="2 - Θέση κατακόρυφου κειμένου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l-GR" smtClean="0"/>
              <a:t>Κάντε κλικ για να επεξεργαστείτε τα στυλ κειμένου του υποδείγματος</a:t>
            </a:r>
          </a:p>
          <a:p>
            <a:pPr lvl="1"/>
            <a:r>
              <a:rPr lang="el-GR" smtClean="0"/>
              <a:t>Δεύτερου επιπέδου</a:t>
            </a:r>
          </a:p>
          <a:p>
            <a:pPr lvl="2"/>
            <a:r>
              <a:rPr lang="el-GR" smtClean="0"/>
              <a:t>Τρίτου επιπέδου</a:t>
            </a:r>
          </a:p>
          <a:p>
            <a:pPr lvl="3"/>
            <a:r>
              <a:rPr lang="el-GR" smtClean="0"/>
              <a:t>Τέταρτου επιπέδου</a:t>
            </a:r>
          </a:p>
          <a:p>
            <a:pPr lvl="4"/>
            <a:r>
              <a:rPr lang="el-GR" smtClean="0"/>
              <a:t>Πέμπτου επιπέδου</a:t>
            </a:r>
            <a:endParaRPr lang="el-GR"/>
          </a:p>
        </p:txBody>
      </p:sp>
      <p:sp>
        <p:nvSpPr>
          <p:cNvPr id="4" name="3 - Θέση ημερομηνίας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42CEA3-3058-4D43-AE35-B3DA76CB4003}" type="datetimeFigureOut">
              <a:rPr lang="el-GR" smtClean="0"/>
              <a:pPr/>
              <a:t>16/10/2026</a:t>
            </a:fld>
            <a:endParaRPr lang="el-GR"/>
          </a:p>
        </p:txBody>
      </p:sp>
      <p:sp>
        <p:nvSpPr>
          <p:cNvPr id="5" name="4 - Θέση υποσέλιδου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6" name="5 - Θέση αριθμού διαφάνειας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F1D1C4-C2D9-4231-9FB2-B2D9D97AA41D}" type="slidenum">
              <a:rPr lang="el-GR" smtClean="0"/>
              <a:pPr/>
              <a:t>‹#›</a:t>
            </a:fld>
            <a:endParaRPr lang="el-G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- Θέση τίτλου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l-GR" smtClean="0"/>
              <a:t>Κάντε κλικ για επεξεργασία του τίτλου</a:t>
            </a:r>
            <a:endParaRPr lang="el-GR"/>
          </a:p>
        </p:txBody>
      </p:sp>
      <p:sp>
        <p:nvSpPr>
          <p:cNvPr id="3" name="2 - Θέση κειμένου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l-GR" smtClean="0"/>
              <a:t>Κάντε κλικ για να επεξεργαστείτε τα στυλ κειμένου του υποδείγματος</a:t>
            </a:r>
          </a:p>
          <a:p>
            <a:pPr lvl="1"/>
            <a:r>
              <a:rPr lang="el-GR" smtClean="0"/>
              <a:t>Δεύτερου επιπέδου</a:t>
            </a:r>
          </a:p>
          <a:p>
            <a:pPr lvl="2"/>
            <a:r>
              <a:rPr lang="el-GR" smtClean="0"/>
              <a:t>Τρίτου επιπέδου</a:t>
            </a:r>
          </a:p>
          <a:p>
            <a:pPr lvl="3"/>
            <a:r>
              <a:rPr lang="el-GR" smtClean="0"/>
              <a:t>Τέταρτου επιπέδου</a:t>
            </a:r>
          </a:p>
          <a:p>
            <a:pPr lvl="4"/>
            <a:r>
              <a:rPr lang="el-GR" smtClean="0"/>
              <a:t>Πέμπτου επιπέδου</a:t>
            </a:r>
            <a:endParaRPr lang="el-GR"/>
          </a:p>
        </p:txBody>
      </p:sp>
      <p:sp>
        <p:nvSpPr>
          <p:cNvPr id="4" name="3 - Θέση ημερομηνίας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342CEA3-3058-4D43-AE35-B3DA76CB4003}" type="datetimeFigureOut">
              <a:rPr lang="el-GR" smtClean="0"/>
              <a:pPr/>
              <a:t>16/10/2026</a:t>
            </a:fld>
            <a:endParaRPr lang="el-GR"/>
          </a:p>
        </p:txBody>
      </p:sp>
      <p:sp>
        <p:nvSpPr>
          <p:cNvPr id="5" name="4 - Θέση υποσέλιδου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l-GR"/>
          </a:p>
        </p:txBody>
      </p:sp>
      <p:sp>
        <p:nvSpPr>
          <p:cNvPr id="6" name="5 - Θέση αριθμού διαφάνειας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F1D1C4-C2D9-4231-9FB2-B2D9D97AA41D}" type="slidenum">
              <a:rPr lang="el-GR" smtClean="0"/>
              <a:pPr/>
              <a:t>‹#›</a:t>
            </a:fld>
            <a:endParaRPr lang="el-G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l-G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9 - Εικόνα" descr="εικόνα_Viber_2026-10-15_16-03-23-183.jpg"/>
          <p:cNvPicPr>
            <a:picLocks noChangeAspect="1"/>
          </p:cNvPicPr>
          <p:nvPr/>
        </p:nvPicPr>
        <p:blipFill>
          <a:blip r:embed="rId2" cstate="print"/>
          <a:srcRect t="11275" b="17319"/>
          <a:stretch>
            <a:fillRect/>
          </a:stretch>
        </p:blipFill>
        <p:spPr>
          <a:xfrm flipH="1">
            <a:off x="0" y="-99392"/>
            <a:ext cx="9324528" cy="5472608"/>
          </a:xfrm>
          <a:prstGeom prst="rect">
            <a:avLst/>
          </a:prstGeom>
          <a:effectLst>
            <a:softEdge rad="635000"/>
          </a:effectLst>
        </p:spPr>
      </p:pic>
      <p:sp>
        <p:nvSpPr>
          <p:cNvPr id="2" name="1 - TextBox"/>
          <p:cNvSpPr txBox="1"/>
          <p:nvPr/>
        </p:nvSpPr>
        <p:spPr>
          <a:xfrm>
            <a:off x="467544" y="1268760"/>
            <a:ext cx="7632848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i="1" dirty="0" smtClean="0">
                <a:latin typeface="Times New Roman" pitchFamily="18" charset="0"/>
                <a:cs typeface="Times New Roman" pitchFamily="18" charset="0"/>
              </a:rPr>
              <a:t>Diabetes </a:t>
            </a:r>
          </a:p>
          <a:p>
            <a:r>
              <a:rPr lang="en-US" sz="4400" b="1" i="1" dirty="0" smtClean="0">
                <a:latin typeface="Times New Roman" pitchFamily="18" charset="0"/>
                <a:cs typeface="Times New Roman" pitchFamily="18" charset="0"/>
              </a:rPr>
              <a:t>Progression Analysis</a:t>
            </a:r>
            <a:endParaRPr lang="el-GR" sz="4400" b="1" i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2 - TextBox"/>
          <p:cNvSpPr txBox="1"/>
          <p:nvPr/>
        </p:nvSpPr>
        <p:spPr>
          <a:xfrm>
            <a:off x="1601377" y="5338083"/>
            <a:ext cx="12961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442</a:t>
            </a:r>
          </a:p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patients</a:t>
            </a:r>
            <a:endParaRPr lang="el-GR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3 - TextBox"/>
          <p:cNvSpPr txBox="1"/>
          <p:nvPr/>
        </p:nvSpPr>
        <p:spPr>
          <a:xfrm>
            <a:off x="4162219" y="5338083"/>
            <a:ext cx="12961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11</a:t>
            </a:r>
          </a:p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variables</a:t>
            </a:r>
            <a:endParaRPr lang="el-GR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4 - TextBox"/>
          <p:cNvSpPr txBox="1"/>
          <p:nvPr/>
        </p:nvSpPr>
        <p:spPr>
          <a:xfrm>
            <a:off x="6372200" y="5338083"/>
            <a:ext cx="15121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Statistical analysis in R</a:t>
            </a:r>
            <a:endParaRPr lang="el-GR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5 - TextBox"/>
          <p:cNvSpPr txBox="1"/>
          <p:nvPr/>
        </p:nvSpPr>
        <p:spPr>
          <a:xfrm>
            <a:off x="467544" y="2708920"/>
            <a:ext cx="61926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 smtClean="0">
                <a:latin typeface="Times New Roman" pitchFamily="18" charset="0"/>
                <a:cs typeface="Times New Roman" pitchFamily="18" charset="0"/>
              </a:rPr>
              <a:t>Short presentation for a non-specialist decision-maker</a:t>
            </a:r>
            <a:endParaRPr lang="el-GR" i="1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1" name="10 - Εικόνα" descr="εικόνα_Viber_2026-10-15_16-03-23-197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025814" y="5157192"/>
            <a:ext cx="1008112" cy="1008112"/>
          </a:xfrm>
          <a:prstGeom prst="rect">
            <a:avLst/>
          </a:prstGeom>
        </p:spPr>
      </p:pic>
      <p:pic>
        <p:nvPicPr>
          <p:cNvPr id="12" name="11 - Εικόνα" descr="εικόνα_Viber_2026-10-15_16-03-22-955.jpg"/>
          <p:cNvPicPr>
            <a:picLocks noChangeAspect="1"/>
          </p:cNvPicPr>
          <p:nvPr/>
        </p:nvPicPr>
        <p:blipFill>
          <a:blip r:embed="rId4" cstate="print"/>
          <a:srcRect l="20600" t="20600" r="18501" b="20601"/>
          <a:stretch>
            <a:fillRect/>
          </a:stretch>
        </p:blipFill>
        <p:spPr>
          <a:xfrm>
            <a:off x="683568" y="5280103"/>
            <a:ext cx="789516" cy="762291"/>
          </a:xfrm>
          <a:prstGeom prst="rect">
            <a:avLst/>
          </a:prstGeom>
        </p:spPr>
      </p:pic>
      <p:pic>
        <p:nvPicPr>
          <p:cNvPr id="13" name="12 - Εικόνα" descr="εικόνα_Viber_2026-10-15_16-14-57-119.jpg"/>
          <p:cNvPicPr>
            <a:picLocks noChangeAspect="1"/>
          </p:cNvPicPr>
          <p:nvPr/>
        </p:nvPicPr>
        <p:blipFill>
          <a:blip r:embed="rId5" cstate="print">
            <a:clrChange>
              <a:clrFrom>
                <a:srgbClr val="D5E6F2"/>
              </a:clrFrom>
              <a:clrTo>
                <a:srgbClr val="D5E6F2">
                  <a:alpha val="0"/>
                </a:srgbClr>
              </a:clrTo>
            </a:clrChange>
            <a:lum/>
          </a:blip>
          <a:stretch>
            <a:fillRect/>
          </a:stretch>
        </p:blipFill>
        <p:spPr>
          <a:xfrm>
            <a:off x="5586656" y="5301208"/>
            <a:ext cx="657253" cy="662220"/>
          </a:xfrm>
          <a:prstGeom prst="ellipse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6 - Στρογγυλεμένο ορθογώνιο"/>
          <p:cNvSpPr/>
          <p:nvPr/>
        </p:nvSpPr>
        <p:spPr>
          <a:xfrm>
            <a:off x="5436096" y="1772816"/>
            <a:ext cx="3456384" cy="3384376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l-GR"/>
          </a:p>
        </p:txBody>
      </p:sp>
      <p:sp>
        <p:nvSpPr>
          <p:cNvPr id="6" name="5 - Στρογγυλεμένο ορθογώνιο"/>
          <p:cNvSpPr/>
          <p:nvPr/>
        </p:nvSpPr>
        <p:spPr>
          <a:xfrm>
            <a:off x="323528" y="1052736"/>
            <a:ext cx="4896544" cy="1872208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l-GR"/>
          </a:p>
        </p:txBody>
      </p:sp>
      <p:sp>
        <p:nvSpPr>
          <p:cNvPr id="2" name="1 - TextBox"/>
          <p:cNvSpPr txBox="1"/>
          <p:nvPr/>
        </p:nvSpPr>
        <p:spPr>
          <a:xfrm>
            <a:off x="323528" y="188640"/>
            <a:ext cx="76328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 smtClean="0">
                <a:latin typeface="Times New Roman" pitchFamily="18" charset="0"/>
                <a:cs typeface="Times New Roman" pitchFamily="18" charset="0"/>
              </a:rPr>
              <a:t>1. The Question and the Data</a:t>
            </a:r>
          </a:p>
        </p:txBody>
      </p:sp>
      <p:sp>
        <p:nvSpPr>
          <p:cNvPr id="3" name="2 - TextBox"/>
          <p:cNvSpPr txBox="1"/>
          <p:nvPr/>
        </p:nvSpPr>
        <p:spPr>
          <a:xfrm>
            <a:off x="467544" y="1124744"/>
            <a:ext cx="4680520" cy="17312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        Main question</a:t>
            </a:r>
          </a:p>
          <a:p>
            <a:pPr algn="just"/>
            <a:endParaRPr lang="en-US" sz="105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Which patient characteristics are associated with 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diabetes progression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, and how well can we predict progression using linear regression models?</a:t>
            </a:r>
            <a:endParaRPr lang="el-GR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3 - TextBox"/>
          <p:cNvSpPr txBox="1"/>
          <p:nvPr/>
        </p:nvSpPr>
        <p:spPr>
          <a:xfrm>
            <a:off x="323528" y="3429000"/>
            <a:ext cx="496855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buFont typeface="Arial" pitchFamily="34" charset="0"/>
              <a:buChar char="•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i="1" dirty="0" smtClean="0">
                <a:latin typeface="Times New Roman" pitchFamily="18" charset="0"/>
                <a:cs typeface="Times New Roman" pitchFamily="18" charset="0"/>
              </a:rPr>
              <a:t>Dataset: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442 patients, 11 variables</a:t>
            </a:r>
          </a:p>
          <a:p>
            <a:pPr algn="just"/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buFont typeface="Arial" pitchFamily="34" charset="0"/>
              <a:buChar char="•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i="1" dirty="0" smtClean="0">
                <a:latin typeface="Times New Roman" pitchFamily="18" charset="0"/>
                <a:cs typeface="Times New Roman" pitchFamily="18" charset="0"/>
              </a:rPr>
              <a:t>Outcome: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progression (quantitative measure of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diabetes progression one year after baseline)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buFont typeface="Arial" pitchFamily="34" charset="0"/>
              <a:buChar char="•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i="1" dirty="0" smtClean="0">
                <a:latin typeface="Times New Roman" pitchFamily="18" charset="0"/>
                <a:cs typeface="Times New Roman" pitchFamily="18" charset="0"/>
              </a:rPr>
              <a:t>Predictors: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age, sex, BMI,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bp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, s1, s2, s3, s4, s5, s6</a:t>
            </a:r>
          </a:p>
          <a:p>
            <a:pPr algn="just"/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buFont typeface="Arial" pitchFamily="34" charset="0"/>
              <a:buChar char="•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i="1" dirty="0" smtClean="0">
                <a:latin typeface="Times New Roman" pitchFamily="18" charset="0"/>
                <a:cs typeface="Times New Roman" pitchFamily="18" charset="0"/>
              </a:rPr>
              <a:t>Type of data: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observational (not experimental)</a:t>
            </a:r>
            <a:endParaRPr lang="el-GR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4 - TextBox"/>
          <p:cNvSpPr txBox="1"/>
          <p:nvPr/>
        </p:nvSpPr>
        <p:spPr>
          <a:xfrm>
            <a:off x="5580112" y="1916832"/>
            <a:ext cx="31683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Key descriptive statistics</a:t>
            </a:r>
            <a:endParaRPr lang="el-GR" b="1" dirty="0"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8" name="7 - Πίνακας"/>
          <p:cNvGraphicFramePr>
            <a:graphicFrameLocks noGrp="1"/>
          </p:cNvGraphicFramePr>
          <p:nvPr/>
        </p:nvGraphicFramePr>
        <p:xfrm>
          <a:off x="5436096" y="2636912"/>
          <a:ext cx="3456384" cy="2001520"/>
        </p:xfrm>
        <a:graphic>
          <a:graphicData uri="http://schemas.openxmlformats.org/drawingml/2006/table">
            <a:tbl>
              <a:tblPr firstRow="1" bandRow="1">
                <a:tableStyleId>{BDBED569-4797-4DF1-A0F4-6AAB3CD982D8}</a:tableStyleId>
              </a:tblPr>
              <a:tblGrid>
                <a:gridCol w="1080120"/>
                <a:gridCol w="720080"/>
                <a:gridCol w="792088"/>
                <a:gridCol w="864096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>
                          <a:latin typeface="Times New Roman" pitchFamily="18" charset="0"/>
                          <a:cs typeface="Times New Roman" pitchFamily="18" charset="0"/>
                        </a:rPr>
                        <a:t>Variable</a:t>
                      </a:r>
                      <a:endParaRPr lang="el-GR" sz="14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>
                          <a:latin typeface="Times New Roman" pitchFamily="18" charset="0"/>
                          <a:cs typeface="Times New Roman" pitchFamily="18" charset="0"/>
                        </a:rPr>
                        <a:t>Mean</a:t>
                      </a:r>
                      <a:endParaRPr lang="el-GR" sz="14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>
                          <a:latin typeface="Times New Roman" pitchFamily="18" charset="0"/>
                          <a:cs typeface="Times New Roman" pitchFamily="18" charset="0"/>
                        </a:rPr>
                        <a:t>Median</a:t>
                      </a:r>
                      <a:endParaRPr lang="el-GR" sz="14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>
                          <a:latin typeface="Times New Roman" pitchFamily="18" charset="0"/>
                          <a:cs typeface="Times New Roman" pitchFamily="18" charset="0"/>
                        </a:rPr>
                        <a:t>Range</a:t>
                      </a:r>
                      <a:endParaRPr lang="el-GR" sz="14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>
                          <a:latin typeface="Times New Roman" pitchFamily="18" charset="0"/>
                          <a:cs typeface="Times New Roman" pitchFamily="18" charset="0"/>
                        </a:rPr>
                        <a:t>Progression</a:t>
                      </a:r>
                      <a:endParaRPr lang="el-GR" sz="14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>
                          <a:latin typeface="Times New Roman" pitchFamily="18" charset="0"/>
                          <a:cs typeface="Times New Roman" pitchFamily="18" charset="0"/>
                        </a:rPr>
                        <a:t>152.13</a:t>
                      </a:r>
                      <a:endParaRPr lang="el-GR" sz="14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>
                          <a:latin typeface="Times New Roman" pitchFamily="18" charset="0"/>
                          <a:cs typeface="Times New Roman" pitchFamily="18" charset="0"/>
                        </a:rPr>
                        <a:t>140.5</a:t>
                      </a:r>
                      <a:endParaRPr lang="el-GR" sz="14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>
                          <a:latin typeface="Times New Roman" pitchFamily="18" charset="0"/>
                          <a:cs typeface="Times New Roman" pitchFamily="18" charset="0"/>
                        </a:rPr>
                        <a:t>25 - 346</a:t>
                      </a:r>
                      <a:endParaRPr lang="el-GR" sz="14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>
                          <a:latin typeface="Times New Roman" pitchFamily="18" charset="0"/>
                          <a:cs typeface="Times New Roman" pitchFamily="18" charset="0"/>
                        </a:rPr>
                        <a:t>Age</a:t>
                      </a:r>
                      <a:endParaRPr lang="el-GR" sz="14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>
                          <a:latin typeface="Times New Roman" pitchFamily="18" charset="0"/>
                          <a:cs typeface="Times New Roman" pitchFamily="18" charset="0"/>
                        </a:rPr>
                        <a:t>48.52</a:t>
                      </a:r>
                      <a:endParaRPr lang="el-GR" sz="14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>
                          <a:latin typeface="Times New Roman" pitchFamily="18" charset="0"/>
                          <a:cs typeface="Times New Roman" pitchFamily="18" charset="0"/>
                        </a:rPr>
                        <a:t>48</a:t>
                      </a:r>
                      <a:endParaRPr lang="el-GR" sz="14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>
                          <a:latin typeface="Times New Roman" pitchFamily="18" charset="0"/>
                          <a:cs typeface="Times New Roman" pitchFamily="18" charset="0"/>
                        </a:rPr>
                        <a:t>19 - 79</a:t>
                      </a:r>
                      <a:endParaRPr lang="el-GR" sz="14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>
                          <a:latin typeface="Times New Roman" pitchFamily="18" charset="0"/>
                          <a:cs typeface="Times New Roman" pitchFamily="18" charset="0"/>
                        </a:rPr>
                        <a:t>BMI</a:t>
                      </a:r>
                      <a:endParaRPr lang="el-GR" sz="14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>
                          <a:latin typeface="Times New Roman" pitchFamily="18" charset="0"/>
                          <a:cs typeface="Times New Roman" pitchFamily="18" charset="0"/>
                        </a:rPr>
                        <a:t>26.38</a:t>
                      </a:r>
                      <a:endParaRPr lang="el-GR" sz="14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>
                          <a:latin typeface="Times New Roman" pitchFamily="18" charset="0"/>
                          <a:cs typeface="Times New Roman" pitchFamily="18" charset="0"/>
                        </a:rPr>
                        <a:t>25.7</a:t>
                      </a:r>
                      <a:endParaRPr lang="el-GR" sz="14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>
                          <a:latin typeface="Times New Roman" pitchFamily="18" charset="0"/>
                          <a:cs typeface="Times New Roman" pitchFamily="18" charset="0"/>
                        </a:rPr>
                        <a:t>18 - 42.2</a:t>
                      </a:r>
                      <a:endParaRPr lang="el-GR" sz="14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>
                          <a:latin typeface="Times New Roman" pitchFamily="18" charset="0"/>
                          <a:cs typeface="Times New Roman" pitchFamily="18" charset="0"/>
                        </a:rPr>
                        <a:t>Blood</a:t>
                      </a:r>
                      <a:r>
                        <a:rPr lang="en-US" sz="1400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pressure</a:t>
                      </a:r>
                      <a:endParaRPr lang="el-GR" sz="14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>
                          <a:latin typeface="Times New Roman" pitchFamily="18" charset="0"/>
                          <a:cs typeface="Times New Roman" pitchFamily="18" charset="0"/>
                        </a:rPr>
                        <a:t>94.6</a:t>
                      </a:r>
                      <a:endParaRPr lang="el-GR" sz="14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>
                          <a:latin typeface="Times New Roman" pitchFamily="18" charset="0"/>
                          <a:cs typeface="Times New Roman" pitchFamily="18" charset="0"/>
                        </a:rPr>
                        <a:t>93</a:t>
                      </a:r>
                      <a:endParaRPr lang="el-GR" sz="14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>
                          <a:latin typeface="Times New Roman" pitchFamily="18" charset="0"/>
                          <a:cs typeface="Times New Roman" pitchFamily="18" charset="0"/>
                        </a:rPr>
                        <a:t>62- 133</a:t>
                      </a:r>
                      <a:endParaRPr lang="el-GR" sz="14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9" name="8 - Εικόνα" descr="εικόνα_Viber_2026-10-15_16-34-51-000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467544" y="1052736"/>
            <a:ext cx="648072" cy="648072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6 - Στρογγυλεμένο ορθογώνιο"/>
          <p:cNvSpPr/>
          <p:nvPr/>
        </p:nvSpPr>
        <p:spPr>
          <a:xfrm>
            <a:off x="611560" y="5085184"/>
            <a:ext cx="3168352" cy="1512168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l-GR"/>
          </a:p>
        </p:txBody>
      </p:sp>
      <p:sp>
        <p:nvSpPr>
          <p:cNvPr id="2" name="1 - TextBox"/>
          <p:cNvSpPr txBox="1"/>
          <p:nvPr/>
        </p:nvSpPr>
        <p:spPr>
          <a:xfrm>
            <a:off x="323528" y="188640"/>
            <a:ext cx="84969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 smtClean="0">
                <a:latin typeface="Times New Roman" pitchFamily="18" charset="0"/>
                <a:cs typeface="Times New Roman" pitchFamily="18" charset="0"/>
              </a:rPr>
              <a:t>2. Most Important Patterns in the Data</a:t>
            </a:r>
          </a:p>
        </p:txBody>
      </p:sp>
      <p:pic>
        <p:nvPicPr>
          <p:cNvPr id="10" name="9 - Εικόνα" descr="Rplot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51520" y="1052736"/>
            <a:ext cx="3739906" cy="3685308"/>
          </a:xfrm>
          <a:prstGeom prst="rect">
            <a:avLst/>
          </a:prstGeom>
        </p:spPr>
      </p:pic>
      <p:pic>
        <p:nvPicPr>
          <p:cNvPr id="11" name="10 - Εικόνα" descr="Rplot01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5076056" y="1052736"/>
            <a:ext cx="3739906" cy="3685308"/>
          </a:xfrm>
          <a:prstGeom prst="rect">
            <a:avLst/>
          </a:prstGeom>
        </p:spPr>
      </p:pic>
      <p:sp>
        <p:nvSpPr>
          <p:cNvPr id="12" name="11 - TextBox"/>
          <p:cNvSpPr txBox="1"/>
          <p:nvPr/>
        </p:nvSpPr>
        <p:spPr>
          <a:xfrm>
            <a:off x="611560" y="5241104"/>
            <a:ext cx="316835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dirty="0" smtClean="0"/>
              <a:t>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BMI is moderately right-skewed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Most patients have BMI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values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between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20 and 30</a:t>
            </a:r>
            <a:endParaRPr lang="el-GR" dirty="0"/>
          </a:p>
        </p:txBody>
      </p:sp>
      <p:sp>
        <p:nvSpPr>
          <p:cNvPr id="13" name="12 - Στρογγυλεμένο ορθογώνιο"/>
          <p:cNvSpPr/>
          <p:nvPr/>
        </p:nvSpPr>
        <p:spPr>
          <a:xfrm>
            <a:off x="5220072" y="5013176"/>
            <a:ext cx="3312368" cy="1656184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l-GR"/>
          </a:p>
        </p:txBody>
      </p:sp>
      <p:sp>
        <p:nvSpPr>
          <p:cNvPr id="14" name="13 - TextBox"/>
          <p:cNvSpPr txBox="1"/>
          <p:nvPr/>
        </p:nvSpPr>
        <p:spPr>
          <a:xfrm>
            <a:off x="5292080" y="5102604"/>
            <a:ext cx="324036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dirty="0" smtClean="0"/>
              <a:t>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Progression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shows a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right-skewed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distribution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Arial" pitchFamily="34" charset="0"/>
              <a:buChar char="•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Values vary considerably, ranging from 25 to 346</a:t>
            </a:r>
            <a:endParaRPr lang="el-G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6 - Στρογγυλεμένο ορθογώνιο"/>
          <p:cNvSpPr/>
          <p:nvPr/>
        </p:nvSpPr>
        <p:spPr>
          <a:xfrm>
            <a:off x="611560" y="836712"/>
            <a:ext cx="3132348" cy="36004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l-GR"/>
          </a:p>
        </p:txBody>
      </p:sp>
      <p:sp>
        <p:nvSpPr>
          <p:cNvPr id="2" name="1 - TextBox"/>
          <p:cNvSpPr txBox="1"/>
          <p:nvPr/>
        </p:nvSpPr>
        <p:spPr>
          <a:xfrm>
            <a:off x="323528" y="188640"/>
            <a:ext cx="84969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 smtClean="0">
                <a:latin typeface="Times New Roman" pitchFamily="18" charset="0"/>
                <a:cs typeface="Times New Roman" pitchFamily="18" charset="0"/>
              </a:rPr>
              <a:t>3. Main Regression Findings</a:t>
            </a:r>
          </a:p>
        </p:txBody>
      </p:sp>
      <p:sp>
        <p:nvSpPr>
          <p:cNvPr id="12" name="11 - TextBox"/>
          <p:cNvSpPr txBox="1"/>
          <p:nvPr/>
        </p:nvSpPr>
        <p:spPr>
          <a:xfrm>
            <a:off x="596012" y="832066"/>
            <a:ext cx="37599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Simple linear regression (BMI)</a:t>
            </a:r>
            <a:endParaRPr lang="el-GR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3" name="12 - Στρογγυλεμένο ορθογώνιο"/>
          <p:cNvSpPr/>
          <p:nvPr/>
        </p:nvSpPr>
        <p:spPr>
          <a:xfrm>
            <a:off x="539552" y="5013176"/>
            <a:ext cx="3312368" cy="1656184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l-GR"/>
          </a:p>
        </p:txBody>
      </p:sp>
      <p:sp>
        <p:nvSpPr>
          <p:cNvPr id="14" name="13 - TextBox"/>
          <p:cNvSpPr txBox="1"/>
          <p:nvPr/>
        </p:nvSpPr>
        <p:spPr>
          <a:xfrm>
            <a:off x="539552" y="5085184"/>
            <a:ext cx="324036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dirty="0" smtClean="0"/>
              <a:t>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Correlation r = 0.5865 (moderate positive)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R</a:t>
            </a:r>
            <a:r>
              <a:rPr lang="en-US" baseline="30000" dirty="0" smtClean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= 0.344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Progression tends to be higher for patients with higher BMI.</a:t>
            </a:r>
            <a:endParaRPr lang="el-GR" dirty="0"/>
          </a:p>
        </p:txBody>
      </p:sp>
      <p:pic>
        <p:nvPicPr>
          <p:cNvPr id="9" name="8 - Εικόνα" descr="Rplot02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23528" y="1340768"/>
            <a:ext cx="3739906" cy="3685308"/>
          </a:xfrm>
          <a:prstGeom prst="rect">
            <a:avLst/>
          </a:prstGeom>
        </p:spPr>
      </p:pic>
      <p:sp>
        <p:nvSpPr>
          <p:cNvPr id="8" name="7 - Στρογγυλεμένο ορθογώνιο"/>
          <p:cNvSpPr/>
          <p:nvPr/>
        </p:nvSpPr>
        <p:spPr>
          <a:xfrm>
            <a:off x="4427984" y="908720"/>
            <a:ext cx="4392488" cy="5832648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l-GR"/>
          </a:p>
        </p:txBody>
      </p:sp>
      <p:sp>
        <p:nvSpPr>
          <p:cNvPr id="10" name="9 - TextBox"/>
          <p:cNvSpPr txBox="1"/>
          <p:nvPr/>
        </p:nvSpPr>
        <p:spPr>
          <a:xfrm>
            <a:off x="4716016" y="1052736"/>
            <a:ext cx="38164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Multiple linear regression</a:t>
            </a:r>
          </a:p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(BMI, blood pressure and s5)</a:t>
            </a:r>
            <a:endParaRPr lang="el-GR" b="1" dirty="0"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11" name="10 - Πίνακας"/>
          <p:cNvGraphicFramePr>
            <a:graphicFrameLocks noGrp="1"/>
          </p:cNvGraphicFramePr>
          <p:nvPr/>
        </p:nvGraphicFramePr>
        <p:xfrm>
          <a:off x="4427984" y="1844824"/>
          <a:ext cx="4392488" cy="3992880"/>
        </p:xfrm>
        <a:graphic>
          <a:graphicData uri="http://schemas.openxmlformats.org/drawingml/2006/table">
            <a:tbl>
              <a:tblPr firstRow="1" bandRow="1">
                <a:tableStyleId>{5FD0F851-EC5A-4D38-B0AD-8093EC10F338}</a:tableStyleId>
              </a:tblPr>
              <a:tblGrid>
                <a:gridCol w="936104"/>
                <a:gridCol w="1080120"/>
                <a:gridCol w="792088"/>
                <a:gridCol w="1584176"/>
              </a:tblGrid>
              <a:tr h="284548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>
                          <a:latin typeface="Times New Roman" pitchFamily="18" charset="0"/>
                          <a:cs typeface="Times New Roman" pitchFamily="18" charset="0"/>
                        </a:rPr>
                        <a:t>Predictor</a:t>
                      </a:r>
                      <a:endParaRPr lang="el-GR" sz="14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>
                          <a:latin typeface="Times New Roman" pitchFamily="18" charset="0"/>
                          <a:cs typeface="Times New Roman" pitchFamily="18" charset="0"/>
                        </a:rPr>
                        <a:t>Coefficient</a:t>
                      </a:r>
                      <a:endParaRPr lang="el-GR" sz="14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>
                          <a:latin typeface="Times New Roman" pitchFamily="18" charset="0"/>
                          <a:cs typeface="Times New Roman" pitchFamily="18" charset="0"/>
                        </a:rPr>
                        <a:t>P-value</a:t>
                      </a:r>
                      <a:endParaRPr lang="el-GR" sz="14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>
                          <a:latin typeface="Times New Roman" pitchFamily="18" charset="0"/>
                          <a:cs typeface="Times New Roman" pitchFamily="18" charset="0"/>
                        </a:rPr>
                        <a:t>Interpretation</a:t>
                      </a:r>
                      <a:endParaRPr lang="el-GR" sz="14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882098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>
                          <a:latin typeface="Times New Roman" pitchFamily="18" charset="0"/>
                          <a:cs typeface="Times New Roman" pitchFamily="18" charset="0"/>
                        </a:rPr>
                        <a:t>BMI</a:t>
                      </a:r>
                      <a:endParaRPr lang="el-GR" sz="14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>
                          <a:latin typeface="Times New Roman" pitchFamily="18" charset="0"/>
                          <a:cs typeface="Times New Roman" pitchFamily="18" charset="0"/>
                        </a:rPr>
                        <a:t>6.500</a:t>
                      </a:r>
                      <a:endParaRPr lang="el-GR" sz="14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>
                          <a:latin typeface="Times New Roman" pitchFamily="18" charset="0"/>
                          <a:cs typeface="Times New Roman" pitchFamily="18" charset="0"/>
                        </a:rPr>
                        <a:t>&lt;0.001</a:t>
                      </a:r>
                      <a:endParaRPr lang="el-GR" sz="14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>
                          <a:latin typeface="Times New Roman" pitchFamily="18" charset="0"/>
                          <a:cs typeface="Times New Roman" pitchFamily="18" charset="0"/>
                        </a:rPr>
                        <a:t>Higher BMI is associated with higher </a:t>
                      </a:r>
                      <a:r>
                        <a:rPr lang="en-US" sz="1400" dirty="0" smtClean="0">
                          <a:latin typeface="Times New Roman" pitchFamily="18" charset="0"/>
                          <a:cs typeface="Times New Roman" pitchFamily="18" charset="0"/>
                        </a:rPr>
                        <a:t>progression,</a:t>
                      </a:r>
                      <a:r>
                        <a:rPr lang="en-US" sz="1400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holding the other predictors constant.</a:t>
                      </a:r>
                      <a:endParaRPr lang="el-GR" sz="14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1280464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>
                          <a:latin typeface="Times New Roman" pitchFamily="18" charset="0"/>
                          <a:cs typeface="Times New Roman" pitchFamily="18" charset="0"/>
                        </a:rPr>
                        <a:t>Blood pressure</a:t>
                      </a:r>
                      <a:endParaRPr lang="el-GR" sz="14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l-GR" sz="1400" dirty="0" smtClean="0">
                          <a:latin typeface="Times New Roman" pitchFamily="18" charset="0"/>
                          <a:cs typeface="Times New Roman" pitchFamily="18" charset="0"/>
                        </a:rPr>
                        <a:t>0.903</a:t>
                      </a:r>
                      <a:endParaRPr lang="el-GR" sz="14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>
                          <a:latin typeface="Times New Roman" pitchFamily="18" charset="0"/>
                          <a:cs typeface="Times New Roman" pitchFamily="18" charset="0"/>
                        </a:rPr>
                        <a:t>&lt;0.001</a:t>
                      </a:r>
                      <a:endParaRPr lang="el-GR" sz="14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 smtClean="0">
                          <a:latin typeface="Times New Roman" pitchFamily="18" charset="0"/>
                          <a:cs typeface="Times New Roman" pitchFamily="18" charset="0"/>
                        </a:rPr>
                        <a:t>Higher</a:t>
                      </a:r>
                      <a:r>
                        <a:rPr lang="en-US" sz="1400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blood pressure</a:t>
                      </a:r>
                      <a:r>
                        <a:rPr lang="en-US" sz="1400" dirty="0" smtClean="0">
                          <a:latin typeface="Times New Roman" pitchFamily="18" charset="0"/>
                          <a:cs typeface="Times New Roman" pitchFamily="18" charset="0"/>
                        </a:rPr>
                        <a:t> is associated with higher </a:t>
                      </a:r>
                      <a:r>
                        <a:rPr lang="en-US" sz="1400" dirty="0" smtClean="0">
                          <a:latin typeface="Times New Roman" pitchFamily="18" charset="0"/>
                          <a:cs typeface="Times New Roman" pitchFamily="18" charset="0"/>
                        </a:rPr>
                        <a:t>progression,</a:t>
                      </a:r>
                      <a:r>
                        <a:rPr lang="en-US" sz="1400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holding the other predictors constant.</a:t>
                      </a:r>
                      <a:endParaRPr lang="el-GR" sz="1400" dirty="0" smtClean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1081281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>
                          <a:latin typeface="Times New Roman" pitchFamily="18" charset="0"/>
                          <a:cs typeface="Times New Roman" pitchFamily="18" charset="0"/>
                        </a:rPr>
                        <a:t>s5</a:t>
                      </a:r>
                      <a:endParaRPr lang="el-GR" sz="14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l-GR" sz="1400" dirty="0" smtClean="0">
                          <a:latin typeface="Times New Roman" pitchFamily="18" charset="0"/>
                          <a:cs typeface="Times New Roman" pitchFamily="18" charset="0"/>
                        </a:rPr>
                        <a:t>49.577</a:t>
                      </a:r>
                      <a:endParaRPr lang="el-GR" sz="14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>
                          <a:latin typeface="Times New Roman" pitchFamily="18" charset="0"/>
                          <a:cs typeface="Times New Roman" pitchFamily="18" charset="0"/>
                        </a:rPr>
                        <a:t>&lt;0.001</a:t>
                      </a:r>
                      <a:endParaRPr lang="el-GR" sz="14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 smtClean="0">
                          <a:latin typeface="Times New Roman" pitchFamily="18" charset="0"/>
                          <a:cs typeface="Times New Roman" pitchFamily="18" charset="0"/>
                        </a:rPr>
                        <a:t>Higher s5</a:t>
                      </a:r>
                      <a:r>
                        <a:rPr lang="en-US" sz="1400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sz="1400" dirty="0" smtClean="0">
                          <a:latin typeface="Times New Roman" pitchFamily="18" charset="0"/>
                          <a:cs typeface="Times New Roman" pitchFamily="18" charset="0"/>
                        </a:rPr>
                        <a:t>is associated with higher </a:t>
                      </a:r>
                      <a:r>
                        <a:rPr lang="en-US" sz="1400" dirty="0" smtClean="0">
                          <a:latin typeface="Times New Roman" pitchFamily="18" charset="0"/>
                          <a:cs typeface="Times New Roman" pitchFamily="18" charset="0"/>
                        </a:rPr>
                        <a:t>progression,</a:t>
                      </a:r>
                      <a:r>
                        <a:rPr lang="en-US" sz="1400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holding the other predictors constant.</a:t>
                      </a:r>
                      <a:endParaRPr lang="el-GR" sz="1400" dirty="0" smtClean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5" name="14 - TextBox"/>
          <p:cNvSpPr txBox="1"/>
          <p:nvPr/>
        </p:nvSpPr>
        <p:spPr>
          <a:xfrm>
            <a:off x="4572000" y="5877272"/>
            <a:ext cx="41044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dirty="0" smtClean="0">
                <a:latin typeface="Times New Roman" pitchFamily="18" charset="0"/>
                <a:cs typeface="Times New Roman" pitchFamily="18" charset="0"/>
              </a:rPr>
              <a:t>R</a:t>
            </a:r>
            <a:r>
              <a:rPr lang="en-US" b="1" i="1" baseline="30000" dirty="0" smtClean="0">
                <a:latin typeface="Times New Roman" pitchFamily="18" charset="0"/>
                <a:cs typeface="Times New Roman" pitchFamily="18" charset="0"/>
              </a:rPr>
              <a:t>2 </a:t>
            </a:r>
            <a:r>
              <a:rPr lang="en-US" b="1" i="1" dirty="0" smtClean="0">
                <a:latin typeface="Times New Roman" pitchFamily="18" charset="0"/>
                <a:cs typeface="Times New Roman" pitchFamily="18" charset="0"/>
              </a:rPr>
              <a:t>= 0.480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The model explains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48.0%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of the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variation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in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progression in this dataset.</a:t>
            </a:r>
            <a:endParaRPr lang="el-GR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- TextBox"/>
          <p:cNvSpPr txBox="1"/>
          <p:nvPr/>
        </p:nvSpPr>
        <p:spPr>
          <a:xfrm>
            <a:off x="323528" y="188640"/>
            <a:ext cx="88204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 smtClean="0">
                <a:latin typeface="Times New Roman" pitchFamily="18" charset="0"/>
                <a:cs typeface="Times New Roman" pitchFamily="18" charset="0"/>
              </a:rPr>
              <a:t>4.What the Results Mean in Practical Terms</a:t>
            </a:r>
          </a:p>
        </p:txBody>
      </p:sp>
      <p:sp>
        <p:nvSpPr>
          <p:cNvPr id="8" name="7 - Στρογγυλεμένο ορθογώνιο"/>
          <p:cNvSpPr/>
          <p:nvPr/>
        </p:nvSpPr>
        <p:spPr>
          <a:xfrm>
            <a:off x="179512" y="1016732"/>
            <a:ext cx="2736304" cy="5472608"/>
          </a:xfrm>
          <a:prstGeom prst="roundRect">
            <a:avLst/>
          </a:prstGeom>
          <a:solidFill>
            <a:srgbClr val="FCD7D4"/>
          </a:solidFill>
          <a:ln>
            <a:solidFill>
              <a:srgbClr val="FCD7D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l-GR"/>
          </a:p>
        </p:txBody>
      </p:sp>
      <p:sp>
        <p:nvSpPr>
          <p:cNvPr id="17" name="16 - Στρογγυλεμένο ορθογώνιο"/>
          <p:cNvSpPr/>
          <p:nvPr/>
        </p:nvSpPr>
        <p:spPr>
          <a:xfrm>
            <a:off x="3203848" y="1016732"/>
            <a:ext cx="2736304" cy="5472608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l-GR"/>
          </a:p>
        </p:txBody>
      </p:sp>
      <p:sp>
        <p:nvSpPr>
          <p:cNvPr id="18" name="17 - Στρογγυλεμένο ορθογώνιο"/>
          <p:cNvSpPr/>
          <p:nvPr/>
        </p:nvSpPr>
        <p:spPr>
          <a:xfrm>
            <a:off x="6192180" y="1016732"/>
            <a:ext cx="2736304" cy="5472608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l-GR"/>
          </a:p>
        </p:txBody>
      </p:sp>
      <p:pic>
        <p:nvPicPr>
          <p:cNvPr id="6" name="5 - Εικόνα" descr="εικόνα_Viber_2026-10-15_16-03-23-197.png"/>
          <p:cNvPicPr>
            <a:picLocks noChangeAspect="1"/>
          </p:cNvPicPr>
          <p:nvPr/>
        </p:nvPicPr>
        <p:blipFill>
          <a:blip r:embed="rId2" cstate="print"/>
          <a:srcRect l="14286" t="14286" r="14286" b="14286"/>
          <a:stretch>
            <a:fillRect/>
          </a:stretch>
        </p:blipFill>
        <p:spPr>
          <a:xfrm>
            <a:off x="4211960" y="1253861"/>
            <a:ext cx="720080" cy="720080"/>
          </a:xfrm>
          <a:prstGeom prst="flowChartConnector">
            <a:avLst/>
          </a:prstGeom>
        </p:spPr>
      </p:pic>
      <p:pic>
        <p:nvPicPr>
          <p:cNvPr id="7" name="6 - Εικόνα" descr="εικόνα_Viber_2026-10-15_16-03-22-955.jpg"/>
          <p:cNvPicPr>
            <a:picLocks noChangeAspect="1"/>
          </p:cNvPicPr>
          <p:nvPr/>
        </p:nvPicPr>
        <p:blipFill>
          <a:blip r:embed="rId3" cstate="print"/>
          <a:srcRect l="20600" t="20600" r="18303" b="20601"/>
          <a:stretch>
            <a:fillRect/>
          </a:stretch>
        </p:blipFill>
        <p:spPr>
          <a:xfrm>
            <a:off x="7164288" y="1232756"/>
            <a:ext cx="792088" cy="762291"/>
          </a:xfrm>
          <a:prstGeom prst="ellipse">
            <a:avLst/>
          </a:prstGeom>
        </p:spPr>
      </p:pic>
      <p:sp>
        <p:nvSpPr>
          <p:cNvPr id="2050" name="AutoShape 2" descr="EWS Indonesia - Εφαρμογές στο Google Play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l-GR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187624" y="1257092"/>
            <a:ext cx="720080" cy="713618"/>
          </a:xfrm>
          <a:prstGeom prst="ellipse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" name="9 - TextBox"/>
          <p:cNvSpPr txBox="1"/>
          <p:nvPr/>
        </p:nvSpPr>
        <p:spPr>
          <a:xfrm>
            <a:off x="215516" y="2271355"/>
            <a:ext cx="26642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i="1" dirty="0" smtClean="0">
                <a:latin typeface="Times New Roman" pitchFamily="18" charset="0"/>
                <a:cs typeface="Times New Roman" pitchFamily="18" charset="0"/>
              </a:rPr>
              <a:t>Multiple factors matter</a:t>
            </a:r>
            <a:endParaRPr lang="el-GR" b="1" i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" name="10 - TextBox"/>
          <p:cNvSpPr txBox="1"/>
          <p:nvPr/>
        </p:nvSpPr>
        <p:spPr>
          <a:xfrm>
            <a:off x="395536" y="2960948"/>
            <a:ext cx="230425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Diabetes progression is associated with more than one patient characteristic, including BMI, blood pressure and s5.</a:t>
            </a:r>
            <a:endParaRPr lang="el-GR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2" name="11 - TextBox"/>
          <p:cNvSpPr txBox="1"/>
          <p:nvPr/>
        </p:nvSpPr>
        <p:spPr>
          <a:xfrm>
            <a:off x="3239852" y="2132856"/>
            <a:ext cx="26642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i="1" dirty="0" smtClean="0">
                <a:latin typeface="Times New Roman" pitchFamily="18" charset="0"/>
                <a:cs typeface="Times New Roman" pitchFamily="18" charset="0"/>
              </a:rPr>
              <a:t>Better prediction </a:t>
            </a:r>
            <a:r>
              <a:rPr lang="en-US" b="1" i="1" dirty="0" smtClean="0">
                <a:latin typeface="Times New Roman" pitchFamily="18" charset="0"/>
                <a:cs typeface="Times New Roman" pitchFamily="18" charset="0"/>
              </a:rPr>
              <a:t>fit </a:t>
            </a:r>
            <a:r>
              <a:rPr lang="en-US" b="1" i="1" dirty="0" smtClean="0">
                <a:latin typeface="Times New Roman" pitchFamily="18" charset="0"/>
                <a:cs typeface="Times New Roman" pitchFamily="18" charset="0"/>
              </a:rPr>
              <a:t>with </a:t>
            </a:r>
            <a:r>
              <a:rPr lang="en-US" b="1" i="1" dirty="0" smtClean="0">
                <a:latin typeface="Times New Roman" pitchFamily="18" charset="0"/>
                <a:cs typeface="Times New Roman" pitchFamily="18" charset="0"/>
              </a:rPr>
              <a:t>multiple variables</a:t>
            </a:r>
            <a:endParaRPr lang="el-GR" b="1" i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3" name="12 - TextBox"/>
          <p:cNvSpPr txBox="1"/>
          <p:nvPr/>
        </p:nvSpPr>
        <p:spPr>
          <a:xfrm>
            <a:off x="3419872" y="2960948"/>
            <a:ext cx="230425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Using several predictors provides a better explanation of progression (48%) compared with using BMI alone (34%).</a:t>
            </a:r>
            <a:endParaRPr lang="el-GR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4" name="13 - TextBox"/>
          <p:cNvSpPr txBox="1"/>
          <p:nvPr/>
        </p:nvSpPr>
        <p:spPr>
          <a:xfrm>
            <a:off x="6228184" y="2132856"/>
            <a:ext cx="26642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i="1" dirty="0" smtClean="0">
                <a:latin typeface="Times New Roman" pitchFamily="18" charset="0"/>
                <a:cs typeface="Times New Roman" pitchFamily="18" charset="0"/>
              </a:rPr>
              <a:t>Potential for targeting higher- risk patients </a:t>
            </a:r>
            <a:endParaRPr lang="el-GR" b="1" i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5" name="14 - TextBox"/>
          <p:cNvSpPr txBox="1"/>
          <p:nvPr/>
        </p:nvSpPr>
        <p:spPr>
          <a:xfrm>
            <a:off x="6408204" y="2960948"/>
            <a:ext cx="230425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These factors could help identify patients who may require closer monitoring and support, subject to further validation.</a:t>
            </a:r>
            <a:endParaRPr lang="el-GR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- TextBox"/>
          <p:cNvSpPr txBox="1"/>
          <p:nvPr/>
        </p:nvSpPr>
        <p:spPr>
          <a:xfrm>
            <a:off x="323528" y="188640"/>
            <a:ext cx="88204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 smtClean="0">
                <a:latin typeface="Times New Roman" pitchFamily="18" charset="0"/>
                <a:cs typeface="Times New Roman" pitchFamily="18" charset="0"/>
              </a:rPr>
              <a:t>5.Uncertainty, Limitations and Conclusions </a:t>
            </a:r>
          </a:p>
        </p:txBody>
      </p:sp>
      <p:sp>
        <p:nvSpPr>
          <p:cNvPr id="3" name="2 - Στρογγυλεμένο ορθογώνιο"/>
          <p:cNvSpPr/>
          <p:nvPr/>
        </p:nvSpPr>
        <p:spPr>
          <a:xfrm>
            <a:off x="359532" y="980728"/>
            <a:ext cx="4680520" cy="4104456"/>
          </a:xfrm>
          <a:prstGeom prst="roundRect">
            <a:avLst/>
          </a:prstGeom>
          <a:solidFill>
            <a:srgbClr val="FFCC66"/>
          </a:solidFill>
          <a:ln>
            <a:solidFill>
              <a:srgbClr val="FFCC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l-GR"/>
          </a:p>
        </p:txBody>
      </p:sp>
      <p:sp>
        <p:nvSpPr>
          <p:cNvPr id="4" name="3 - Στρογγυλεμένο ορθογώνιο"/>
          <p:cNvSpPr/>
          <p:nvPr/>
        </p:nvSpPr>
        <p:spPr>
          <a:xfrm>
            <a:off x="323528" y="5157192"/>
            <a:ext cx="8496944" cy="1512168"/>
          </a:xfrm>
          <a:prstGeom prst="roundRect">
            <a:avLst/>
          </a:prstGeom>
          <a:solidFill>
            <a:srgbClr val="FF5050"/>
          </a:solidFill>
          <a:ln>
            <a:solidFill>
              <a:srgbClr val="FF5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l-GR"/>
          </a:p>
        </p:txBody>
      </p:sp>
      <p:sp>
        <p:nvSpPr>
          <p:cNvPr id="5" name="4 - Στρογγυλεμένο ορθογώνιο"/>
          <p:cNvSpPr/>
          <p:nvPr/>
        </p:nvSpPr>
        <p:spPr>
          <a:xfrm>
            <a:off x="5292080" y="908720"/>
            <a:ext cx="3528392" cy="4104456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l-GR"/>
          </a:p>
        </p:txBody>
      </p:sp>
      <p:sp>
        <p:nvSpPr>
          <p:cNvPr id="6" name="5 - TextBox"/>
          <p:cNvSpPr txBox="1"/>
          <p:nvPr/>
        </p:nvSpPr>
        <p:spPr>
          <a:xfrm>
            <a:off x="611560" y="1052736"/>
            <a:ext cx="43204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Main sources of uncertainty or limitation</a:t>
            </a:r>
            <a:endParaRPr lang="el-GR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6 - TextBox"/>
          <p:cNvSpPr txBox="1"/>
          <p:nvPr/>
        </p:nvSpPr>
        <p:spPr>
          <a:xfrm>
            <a:off x="467544" y="1412776"/>
            <a:ext cx="4608512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buFont typeface="Arial" pitchFamily="34" charset="0"/>
              <a:buChar char="•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Observational data: results show associations, not causation.</a:t>
            </a:r>
          </a:p>
          <a:p>
            <a:pPr algn="just">
              <a:buFont typeface="Arial" pitchFamily="34" charset="0"/>
              <a:buChar char="•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Possible confounding variables not included in the dataset.</a:t>
            </a:r>
          </a:p>
          <a:p>
            <a:pPr algn="just">
              <a:buFont typeface="Arial" pitchFamily="34" charset="0"/>
              <a:buChar char="•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Measurement error in predictors or outcome.</a:t>
            </a:r>
          </a:p>
          <a:p>
            <a:pPr algn="just">
              <a:buFont typeface="Arial" pitchFamily="34" charset="0"/>
              <a:buChar char="•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Linear regression may not capture all relevant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relationships.</a:t>
            </a:r>
            <a:endParaRPr lang="el-GR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buFont typeface="Arial" pitchFamily="34" charset="0"/>
              <a:buChar char="•"/>
            </a:pPr>
            <a:r>
              <a:rPr lang="el-GR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Residual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diagnostics suggest possible non-linearity, so model assumptions require further checking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buFont typeface="Arial" pitchFamily="34" charset="0"/>
              <a:buChar char="•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Findings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may not generalize to other populations or settings.</a:t>
            </a:r>
            <a:endParaRPr lang="el-GR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7 - TextBox"/>
          <p:cNvSpPr txBox="1"/>
          <p:nvPr/>
        </p:nvSpPr>
        <p:spPr>
          <a:xfrm>
            <a:off x="467544" y="5157192"/>
            <a:ext cx="43204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What we should not conclude</a:t>
            </a:r>
            <a:endParaRPr lang="el-GR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8 - TextBox"/>
          <p:cNvSpPr txBox="1"/>
          <p:nvPr/>
        </p:nvSpPr>
        <p:spPr>
          <a:xfrm>
            <a:off x="395536" y="5445224"/>
            <a:ext cx="799288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buFont typeface="Arial" pitchFamily="34" charset="0"/>
              <a:buChar char="•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We cannot claim that BMI, blood pressure or s5 cause diabetes progression.</a:t>
            </a:r>
          </a:p>
          <a:p>
            <a:pPr algn="just">
              <a:buFont typeface="Arial" pitchFamily="34" charset="0"/>
              <a:buChar char="•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The model does not explain all factors affecting progression.</a:t>
            </a:r>
          </a:p>
          <a:p>
            <a:pPr algn="just">
              <a:buFont typeface="Arial" pitchFamily="34" charset="0"/>
              <a:buChar char="•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The results should not be used as a clinical diagnostic tool without further evidence.</a:t>
            </a:r>
          </a:p>
        </p:txBody>
      </p:sp>
      <p:sp>
        <p:nvSpPr>
          <p:cNvPr id="10" name="9 - TextBox"/>
          <p:cNvSpPr txBox="1"/>
          <p:nvPr/>
        </p:nvSpPr>
        <p:spPr>
          <a:xfrm>
            <a:off x="5364088" y="1052736"/>
            <a:ext cx="33843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What can we conclude</a:t>
            </a:r>
            <a:endParaRPr lang="el-GR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" name="10 - TextBox"/>
          <p:cNvSpPr txBox="1"/>
          <p:nvPr/>
        </p:nvSpPr>
        <p:spPr>
          <a:xfrm>
            <a:off x="5292080" y="1556792"/>
            <a:ext cx="3456384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buFont typeface="Arial" pitchFamily="34" charset="0"/>
              <a:buChar char="•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BMI, blood pressure and s5 are positively associated with diabetes progression.</a:t>
            </a:r>
          </a:p>
          <a:p>
            <a:pPr algn="just">
              <a:buFont typeface="Arial" pitchFamily="34" charset="0"/>
              <a:buChar char="•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The multiple regression model explains about 48% of the observed variation in this sample.</a:t>
            </a:r>
          </a:p>
          <a:p>
            <a:pPr algn="just">
              <a:buFont typeface="Arial" pitchFamily="34" charset="0"/>
              <a:buChar char="•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These factors may help guide further research into diabetes progression, but the model requires validation before practical use.</a:t>
            </a:r>
          </a:p>
          <a:p>
            <a:pPr algn="just"/>
            <a:endParaRPr lang="en-US" dirty="0" smtClean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Θέμα του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Θέμα του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185</TotalTime>
  <Words>555</Words>
  <Application>Microsoft Office PowerPoint</Application>
  <PresentationFormat>Προβολή στην οθόνη (4:3)</PresentationFormat>
  <Paragraphs>92</Paragraphs>
  <Slides>6</Slides>
  <Notes>0</Notes>
  <HiddenSlides>0</HiddenSlides>
  <MMClips>0</MMClips>
  <ScaleCrop>false</ScaleCrop>
  <HeadingPairs>
    <vt:vector size="4" baseType="variant">
      <vt:variant>
        <vt:lpstr>Θέμα</vt:lpstr>
      </vt:variant>
      <vt:variant>
        <vt:i4>1</vt:i4>
      </vt:variant>
      <vt:variant>
        <vt:lpstr>Τίτλοι διαφανειών</vt:lpstr>
      </vt:variant>
      <vt:variant>
        <vt:i4>6</vt:i4>
      </vt:variant>
    </vt:vector>
  </HeadingPairs>
  <TitlesOfParts>
    <vt:vector size="7" baseType="lpstr">
      <vt:lpstr>Θέμα του Office</vt:lpstr>
      <vt:lpstr>Διαφάνεια 1</vt:lpstr>
      <vt:lpstr>Διαφάνεια 2</vt:lpstr>
      <vt:lpstr>Διαφάνεια 3</vt:lpstr>
      <vt:lpstr>Διαφάνεια 4</vt:lpstr>
      <vt:lpstr>Διαφάνεια 5</vt:lpstr>
      <vt:lpstr>Διαφάνεια 6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Διαφάνεια 1</dc:title>
  <cp:lastModifiedBy>User</cp:lastModifiedBy>
  <cp:revision>34</cp:revision>
  <dcterms:modified xsi:type="dcterms:W3CDTF">2026-10-16T14:04:15Z</dcterms:modified>
</cp:coreProperties>
</file>